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1A1A1A"/>
                </a:solidFill>
                <a:latin typeface="맑은 고딕"/>
              </a:rPr>
              <a:t>결제경로 안내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8132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666C78"/>
                </a:solidFill>
                <a:latin typeface="맑은 고딕"/>
              </a:rPr>
              <a:t>파라엑스 (Para-X) · MathLAB 기출분석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057400"/>
            <a:ext cx="10515600" cy="36576"/>
          </a:xfrm>
          <a:prstGeom prst="rect">
            <a:avLst/>
          </a:prstGeom>
          <a:solidFill>
            <a:srgbClr val="31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514600"/>
            <a:ext cx="2103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3182F6"/>
                </a:solidFill>
                <a:latin typeface="맑은 고딕"/>
              </a:rPr>
              <a:t>(1) 상호명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0" y="2514600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A1A1A"/>
                </a:solidFill>
                <a:latin typeface="맑은 고딕"/>
              </a:rPr>
              <a:t>파라엑스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017520"/>
            <a:ext cx="2103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3182F6"/>
                </a:solidFill>
                <a:latin typeface="맑은 고딕"/>
              </a:rPr>
              <a:t>(2) 사업자번호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3017520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A1A1A"/>
                </a:solidFill>
                <a:latin typeface="맑은 고딕"/>
              </a:rPr>
              <a:t>496-25-02217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520440"/>
            <a:ext cx="2103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3182F6"/>
                </a:solidFill>
                <a:latin typeface="맑은 고딕"/>
              </a:rPr>
              <a:t>(3) URL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3520440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A1A1A"/>
                </a:solidFill>
                <a:latin typeface="맑은 고딕"/>
              </a:rPr>
              <a:t>https://mathlab.para-x.co.kr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4023360"/>
            <a:ext cx="2103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3182F6"/>
                </a:solidFill>
                <a:latin typeface="맑은 고딕"/>
              </a:rPr>
              <a:t>(4) Test 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4023360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A1A1A"/>
                </a:solidFill>
                <a:latin typeface="맑은 고딕"/>
              </a:rPr>
              <a:t>paraxreview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4526280"/>
            <a:ext cx="2103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3182F6"/>
                </a:solidFill>
                <a:latin typeface="맑은 고딕"/>
              </a:rPr>
              <a:t>(5) Test PW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4526280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A1A1A"/>
                </a:solidFill>
                <a:latin typeface="맑은 고딕"/>
              </a:rPr>
              <a:t>Parax2026!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562356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0">
                <a:solidFill>
                  <a:srgbClr val="666C78"/>
                </a:solidFill>
                <a:latin typeface="맑은 고딕"/>
              </a:rPr>
              <a:t>· 서비스 유형: 무형(디지털) 재화 — 배송 없음 / 서비스 제공기간: 일회성 이용권 충전일로부터 1년, 구독 1개월 단위</a:t>
            </a:r>
          </a:p>
          <a:p>
            <a:pPr algn="l">
              <a:lnSpc>
                <a:spcPct val="150000"/>
              </a:lnSpc>
            </a:pPr>
            <a:r>
              <a:rPr sz="1150" b="0">
                <a:solidFill>
                  <a:srgbClr val="666C78"/>
                </a:solidFill>
                <a:latin typeface="맑은 고딕"/>
              </a:rPr>
              <a:t>· 결제 유형: 충전업종(일회성 이용권) + 정기결제(월 구독) / 토스페이먼츠 결제위젯 직접 연동(호스팅사 미사용)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182F6"/>
                </a:solidFill>
                <a:latin typeface="맑은 고딕"/>
              </a:rPr>
              <a:t>② 하단정보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A1A1A"/>
                </a:solidFill>
                <a:latin typeface="맑은 고딕"/>
              </a:rPr>
              <a:t>사업자정보 (하단 푸터)</a:t>
            </a:r>
          </a:p>
        </p:txBody>
      </p:sp>
      <p:pic>
        <p:nvPicPr>
          <p:cNvPr id="4" name="Picture 3" descr="02-foo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25880"/>
            <a:ext cx="3141432" cy="5029200"/>
          </a:xfrm>
          <a:prstGeom prst="rect">
            <a:avLst/>
          </a:prstGeom>
          <a:ln w="9525">
            <a:solidFill>
              <a:srgbClr val="DDE1E6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092440" y="1371600"/>
            <a:ext cx="3611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60000"/>
              </a:lnSpc>
            </a:pPr>
            <a:r>
              <a:rPr sz="1250" b="0">
                <a:solidFill>
                  <a:srgbClr val="1A1A1A"/>
                </a:solidFill>
                <a:latin typeface="맑은 고딕"/>
              </a:rPr>
              <a:t>• 상호명 · 사업자번호 · 대표자명 · 사업장주소 · 상점 전화번호를 하단에 표기합니다.</a:t>
            </a:r>
          </a:p>
          <a:p>
            <a:pPr algn="l">
              <a:lnSpc>
                <a:spcPct val="160000"/>
              </a:lnSpc>
            </a:pPr>
            <a:r>
              <a:rPr sz="1250" b="0">
                <a:solidFill>
                  <a:srgbClr val="1A1A1A"/>
                </a:solidFill>
                <a:latin typeface="맑은 고딕"/>
              </a:rPr>
              <a:t>• 통신판매업 신고번호: 신고 진행 중이며, 발급 즉시 동일 영역에 기재할 예정입니다.</a:t>
            </a:r>
          </a:p>
          <a:p>
            <a:pPr algn="l">
              <a:lnSpc>
                <a:spcPct val="160000"/>
              </a:lnSpc>
            </a:pPr>
            <a:r>
              <a:rPr sz="1250" b="0">
                <a:solidFill>
                  <a:srgbClr val="1A1A1A"/>
                </a:solidFill>
                <a:latin typeface="맑은 고딕"/>
              </a:rPr>
              <a:t>• 이용약관 / 개인정보처리방침 / 취소·환불 정책 링크를 함께 제공합니다.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182F6"/>
                </a:solidFill>
                <a:latin typeface="맑은 고딕"/>
              </a:rPr>
              <a:t>③ 약관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A1A1A"/>
                </a:solidFill>
                <a:latin typeface="맑은 고딕"/>
              </a:rPr>
              <a:t>이용약관</a:t>
            </a:r>
          </a:p>
        </p:txBody>
      </p:sp>
      <p:pic>
        <p:nvPicPr>
          <p:cNvPr id="4" name="Picture 3" descr="s03-ter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25880"/>
            <a:ext cx="3141432" cy="5029200"/>
          </a:xfrm>
          <a:prstGeom prst="rect">
            <a:avLst/>
          </a:prstGeom>
          <a:ln w="9525">
            <a:solidFill>
              <a:srgbClr val="DDE1E6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092440" y="1371600"/>
            <a:ext cx="3611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60000"/>
              </a:lnSpc>
            </a:pPr>
            <a:r>
              <a:rPr sz="1250" b="0">
                <a:solidFill>
                  <a:srgbClr val="1A1A1A"/>
                </a:solidFill>
                <a:latin typeface="맑은 고딕"/>
              </a:rPr>
              <a:t>• https://para-x.co.kr/terms.html</a:t>
            </a:r>
          </a:p>
          <a:p>
            <a:pPr algn="l">
              <a:lnSpc>
                <a:spcPct val="160000"/>
              </a:lnSpc>
            </a:pPr>
            <a:r>
              <a:rPr sz="1250" b="0">
                <a:solidFill>
                  <a:srgbClr val="1A1A1A"/>
                </a:solidFill>
                <a:latin typeface="맑은 고딕"/>
              </a:rPr>
              <a:t>• 서비스 이용 조건, 이용권의 성격(현금화·양도·대여 불가), 해지 조건을 명시합니다.</a:t>
            </a:r>
          </a:p>
          <a:p>
            <a:pPr algn="l">
              <a:lnSpc>
                <a:spcPct val="160000"/>
              </a:lnSpc>
            </a:pPr>
            <a:r>
              <a:rPr sz="1250" b="0">
                <a:solidFill>
                  <a:srgbClr val="1A1A1A"/>
                </a:solidFill>
                <a:latin typeface="맑은 고딕"/>
              </a:rPr>
              <a:t>• 모든 페이지 하단에서 접근할 수 있습니다.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182F6"/>
                </a:solidFill>
                <a:latin typeface="맑은 고딕"/>
              </a:rPr>
              <a:t>④ 환불 규정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A1A1A"/>
                </a:solidFill>
                <a:latin typeface="맑은 고딕"/>
              </a:rPr>
              <a:t>취소·환불 정책</a:t>
            </a:r>
          </a:p>
        </p:txBody>
      </p:sp>
      <p:pic>
        <p:nvPicPr>
          <p:cNvPr id="4" name="Picture 3" descr="07-ref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25880"/>
            <a:ext cx="3141432" cy="5029200"/>
          </a:xfrm>
          <a:prstGeom prst="rect">
            <a:avLst/>
          </a:prstGeom>
          <a:ln w="9525">
            <a:solidFill>
              <a:srgbClr val="DDE1E6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092440" y="1371600"/>
            <a:ext cx="3611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60000"/>
              </a:lnSpc>
            </a:pPr>
            <a:r>
              <a:rPr sz="1250" b="0">
                <a:solidFill>
                  <a:srgbClr val="1A1A1A"/>
                </a:solidFill>
                <a:latin typeface="맑은 고딕"/>
              </a:rPr>
              <a:t>• https://para-x.co.kr/refund.html</a:t>
            </a:r>
          </a:p>
          <a:p>
            <a:pPr algn="l">
              <a:lnSpc>
                <a:spcPct val="160000"/>
              </a:lnSpc>
            </a:pPr>
            <a:r>
              <a:rPr sz="1250" b="0">
                <a:solidFill>
                  <a:srgbClr val="1A1A1A"/>
                </a:solidFill>
                <a:latin typeface="맑은 고딕"/>
              </a:rPr>
              <a:t>• 무형(디지털) 재화로 배송 개념이 없으며, 서비스 제공기간은 충전일로부터 1년입니다.</a:t>
            </a:r>
          </a:p>
          <a:p>
            <a:pPr algn="l">
              <a:lnSpc>
                <a:spcPct val="160000"/>
              </a:lnSpc>
            </a:pPr>
            <a:r>
              <a:rPr sz="1250" b="0">
                <a:solidFill>
                  <a:srgbClr val="1A1A1A"/>
                </a:solidFill>
                <a:latin typeface="맑은 고딕"/>
              </a:rPr>
              <a:t>• 결제일로부터 7일 이내 미사용분 전액 환불.</a:t>
            </a:r>
          </a:p>
          <a:p>
            <a:pPr algn="l">
              <a:lnSpc>
                <a:spcPct val="160000"/>
              </a:lnSpc>
            </a:pPr>
            <a:r>
              <a:rPr sz="1250" b="0">
                <a:solidFill>
                  <a:srgbClr val="1A1A1A"/>
                </a:solidFill>
                <a:latin typeface="맑은 고딕"/>
              </a:rPr>
              <a:t>• 일부 사용 시 사용분을 차감한 잔여분 환불 / 정기결제는 이용 일수 일할 계산.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182F6"/>
                </a:solidFill>
                <a:latin typeface="맑은 고딕"/>
              </a:rPr>
              <a:t>⑤ 로그인 경로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A1A1A"/>
                </a:solidFill>
                <a:latin typeface="맑은 고딕"/>
              </a:rPr>
              <a:t>로그인</a:t>
            </a:r>
          </a:p>
        </p:txBody>
      </p:sp>
      <p:pic>
        <p:nvPicPr>
          <p:cNvPr id="4" name="Picture 3" descr="s05-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25880"/>
            <a:ext cx="3141432" cy="5029200"/>
          </a:xfrm>
          <a:prstGeom prst="rect">
            <a:avLst/>
          </a:prstGeom>
          <a:ln w="9525">
            <a:solidFill>
              <a:srgbClr val="DDE1E6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092440" y="1371600"/>
            <a:ext cx="3611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60000"/>
              </a:lnSpc>
            </a:pPr>
            <a:r>
              <a:rPr sz="1250" b="0">
                <a:solidFill>
                  <a:srgbClr val="1A1A1A"/>
                </a:solidFill>
                <a:latin typeface="맑은 고딕"/>
              </a:rPr>
              <a:t>• https://mathlab.para-x.co.kr/login</a:t>
            </a:r>
          </a:p>
          <a:p>
            <a:pPr algn="l">
              <a:lnSpc>
                <a:spcPct val="160000"/>
              </a:lnSpc>
            </a:pPr>
            <a:r>
              <a:rPr sz="1250" b="0">
                <a:solidFill>
                  <a:srgbClr val="1A1A1A"/>
                </a:solidFill>
                <a:latin typeface="맑은 고딕"/>
              </a:rPr>
              <a:t>• 학원 단위로 계정을 발급하는 B2B 서비스로, 구매는 로그인 후 진행합니다.</a:t>
            </a:r>
          </a:p>
          <a:p>
            <a:pPr algn="l">
              <a:lnSpc>
                <a:spcPct val="160000"/>
              </a:lnSpc>
            </a:pPr>
            <a:r>
              <a:rPr sz="1250" b="0">
                <a:solidFill>
                  <a:srgbClr val="1A1A1A"/>
                </a:solidFill>
                <a:latin typeface="맑은 고딕"/>
              </a:rPr>
              <a:t>• 비회원 구매는 제공하지 않으므로 심사용 테스트 계정을 표지에 기재했습니다.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182F6"/>
                </a:solidFill>
                <a:latin typeface="맑은 고딕"/>
              </a:rPr>
              <a:t>⑥-1 상품선택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A1A1A"/>
                </a:solidFill>
                <a:latin typeface="맑은 고딕"/>
              </a:rPr>
              <a:t>메인 페이지</a:t>
            </a:r>
          </a:p>
        </p:txBody>
      </p:sp>
      <p:pic>
        <p:nvPicPr>
          <p:cNvPr id="4" name="Picture 3" descr="01-m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25880"/>
            <a:ext cx="3141432" cy="5029200"/>
          </a:xfrm>
          <a:prstGeom prst="rect">
            <a:avLst/>
          </a:prstGeom>
          <a:ln w="9525">
            <a:solidFill>
              <a:srgbClr val="DDE1E6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092440" y="1371600"/>
            <a:ext cx="3611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60000"/>
              </a:lnSpc>
            </a:pPr>
            <a:r>
              <a:rPr sz="1250" b="0">
                <a:solidFill>
                  <a:srgbClr val="1A1A1A"/>
                </a:solidFill>
                <a:latin typeface="맑은 고딕"/>
              </a:rPr>
              <a:t>• https://mathlab.para-x.co.kr</a:t>
            </a:r>
          </a:p>
          <a:p>
            <a:pPr algn="l">
              <a:lnSpc>
                <a:spcPct val="160000"/>
              </a:lnSpc>
            </a:pPr>
            <a:r>
              <a:rPr sz="1250" b="0">
                <a:solidFill>
                  <a:srgbClr val="1A1A1A"/>
                </a:solidFill>
                <a:latin typeface="맑은 고딕"/>
              </a:rPr>
              <a:t>• 서비스 소개와 기능을 안내합니다. 로그인 후 상단 [결제] 메뉴로 이동합니다.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182F6"/>
                </a:solidFill>
                <a:latin typeface="맑은 고딕"/>
              </a:rPr>
              <a:t>⑥-2 상품선택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A1A1A"/>
                </a:solidFill>
                <a:latin typeface="맑은 고딕"/>
              </a:rPr>
              <a:t>상품 목록 및 판매가</a:t>
            </a:r>
          </a:p>
        </p:txBody>
      </p:sp>
      <p:pic>
        <p:nvPicPr>
          <p:cNvPr id="4" name="Picture 3" descr="03-produc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25880"/>
            <a:ext cx="3141432" cy="5029200"/>
          </a:xfrm>
          <a:prstGeom prst="rect">
            <a:avLst/>
          </a:prstGeom>
          <a:ln w="9525">
            <a:solidFill>
              <a:srgbClr val="DDE1E6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092440" y="1371600"/>
            <a:ext cx="3611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60000"/>
              </a:lnSpc>
            </a:pPr>
            <a:r>
              <a:rPr sz="1250" b="0">
                <a:solidFill>
                  <a:srgbClr val="1A1A1A"/>
                </a:solidFill>
                <a:latin typeface="맑은 고딕"/>
              </a:rPr>
              <a:t>• https://mathlab.para-x.co.kr/billing</a:t>
            </a:r>
          </a:p>
          <a:p>
            <a:pPr algn="l">
              <a:lnSpc>
                <a:spcPct val="160000"/>
              </a:lnSpc>
            </a:pPr>
            <a:r>
              <a:rPr sz="1250" b="0">
                <a:solidFill>
                  <a:srgbClr val="1A1A1A"/>
                </a:solidFill>
                <a:latin typeface="맑은 고딕"/>
              </a:rPr>
              <a:t>• 월 결제(정기결제) 3종: Basic ₩80,000 / Pro ₩133,000 / Enterprise ₩280,000 (월)</a:t>
            </a:r>
          </a:p>
          <a:p>
            <a:pPr algn="l">
              <a:lnSpc>
                <a:spcPct val="160000"/>
              </a:lnSpc>
            </a:pPr>
            <a:r>
              <a:rPr sz="1250" b="0">
                <a:solidFill>
                  <a:srgbClr val="1A1A1A"/>
                </a:solidFill>
                <a:latin typeface="맑은 고딕"/>
              </a:rPr>
              <a:t>• 횟수 결제(일회성 이용권) 3종: 3회 ₩30,000 / 10회 ₩80,000 / 30회 ₩210,000</a:t>
            </a:r>
          </a:p>
          <a:p>
            <a:pPr algn="l">
              <a:lnSpc>
                <a:spcPct val="160000"/>
              </a:lnSpc>
            </a:pPr>
            <a:r>
              <a:rPr sz="1250" b="0">
                <a:solidFill>
                  <a:srgbClr val="1A1A1A"/>
                </a:solidFill>
                <a:latin typeface="맑은 고딕"/>
              </a:rPr>
              <a:t>• 모든 상품에 판매가를 표기하며, 표기 금액과 실제 결제 금액은 동일합니다.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182F6"/>
                </a:solidFill>
                <a:latin typeface="맑은 고딕"/>
              </a:rPr>
              <a:t>⑥-3 구매과정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A1A1A"/>
                </a:solidFill>
                <a:latin typeface="맑은 고딕"/>
              </a:rPr>
              <a:t>결제 (일회성 이용권)</a:t>
            </a:r>
          </a:p>
        </p:txBody>
      </p:sp>
      <p:pic>
        <p:nvPicPr>
          <p:cNvPr id="4" name="Picture 3" descr="04-check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25880"/>
            <a:ext cx="3141432" cy="5029200"/>
          </a:xfrm>
          <a:prstGeom prst="rect">
            <a:avLst/>
          </a:prstGeom>
          <a:ln w="9525">
            <a:solidFill>
              <a:srgbClr val="DDE1E6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092440" y="1371600"/>
            <a:ext cx="3611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60000"/>
              </a:lnSpc>
            </a:pPr>
            <a:r>
              <a:rPr sz="1250" b="0">
                <a:solidFill>
                  <a:srgbClr val="1A1A1A"/>
                </a:solidFill>
                <a:latin typeface="맑은 고딕"/>
              </a:rPr>
              <a:t>• https://para-x.co.kr/checkout.html</a:t>
            </a:r>
          </a:p>
          <a:p>
            <a:pPr algn="l">
              <a:lnSpc>
                <a:spcPct val="160000"/>
              </a:lnSpc>
            </a:pPr>
            <a:r>
              <a:rPr sz="1250" b="0">
                <a:solidFill>
                  <a:srgbClr val="1A1A1A"/>
                </a:solidFill>
                <a:latin typeface="맑은 고딕"/>
              </a:rPr>
              <a:t>• 주문 내용(상품명 · 주문번호 · 결제금액)과 서비스 제공기간을 표시합니다.</a:t>
            </a:r>
          </a:p>
          <a:p>
            <a:pPr algn="l">
              <a:lnSpc>
                <a:spcPct val="160000"/>
              </a:lnSpc>
            </a:pPr>
            <a:r>
              <a:rPr sz="1250" b="0">
                <a:solidFill>
                  <a:srgbClr val="1A1A1A"/>
                </a:solidFill>
                <a:latin typeface="맑은 고딕"/>
              </a:rPr>
              <a:t>• 결제수단: 신용·체크카드 / 퀵계좌이체 / 토스페이 / 페이코 / 카카오페이 / 네이버페이</a:t>
            </a:r>
          </a:p>
          <a:p>
            <a:pPr algn="l">
              <a:lnSpc>
                <a:spcPct val="160000"/>
              </a:lnSpc>
            </a:pPr>
            <a:r>
              <a:rPr sz="1250" b="0">
                <a:solidFill>
                  <a:srgbClr val="1A1A1A"/>
                </a:solidFill>
                <a:latin typeface="맑은 고딕"/>
              </a:rPr>
              <a:t>• 결제 서비스 이용약관 및 개인정보 처리 동의 후 [결제하기]를 누릅니다.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182F6"/>
                </a:solidFill>
                <a:latin typeface="맑은 고딕"/>
              </a:rPr>
              <a:t>⑦-1 카드 결제경로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A1A1A"/>
                </a:solidFill>
                <a:latin typeface="맑은 고딕"/>
              </a:rPr>
              <a:t>카드사 인증창 — 비씨카드</a:t>
            </a:r>
          </a:p>
        </p:txBody>
      </p:sp>
      <p:pic>
        <p:nvPicPr>
          <p:cNvPr id="4" name="Picture 3" descr="s07a-card-b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25880"/>
            <a:ext cx="7264400" cy="5029200"/>
          </a:xfrm>
          <a:prstGeom prst="rect">
            <a:avLst/>
          </a:prstGeom>
          <a:ln w="9525">
            <a:solidFill>
              <a:srgbClr val="DDE1E6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092440" y="1371600"/>
            <a:ext cx="3611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60000"/>
              </a:lnSpc>
            </a:pPr>
            <a:r>
              <a:rPr sz="1250" b="0">
                <a:solidFill>
                  <a:srgbClr val="1A1A1A"/>
                </a:solidFill>
                <a:latin typeface="맑은 고딕"/>
              </a:rPr>
              <a:t>• [신용·체크카드] → 카드사 [비씨] 선택 → [결제하기]</a:t>
            </a:r>
          </a:p>
          <a:p>
            <a:pPr algn="l">
              <a:lnSpc>
                <a:spcPct val="160000"/>
              </a:lnSpc>
            </a:pPr>
            <a:r>
              <a:rPr sz="1250" b="0">
                <a:solidFill>
                  <a:srgbClr val="1A1A1A"/>
                </a:solidFill>
                <a:latin typeface="맑은 고딕"/>
              </a:rPr>
              <a:t>• 비씨카드 ISP/페이북 인증창이 호출됩니다.</a:t>
            </a:r>
          </a:p>
          <a:p>
            <a:pPr algn="l">
              <a:lnSpc>
                <a:spcPct val="160000"/>
              </a:lnSpc>
            </a:pPr>
            <a:r>
              <a:rPr sz="1250" b="0">
                <a:solidFill>
                  <a:srgbClr val="1A1A1A"/>
                </a:solidFill>
                <a:latin typeface="맑은 고딕"/>
              </a:rPr>
              <a:t>• 이후 카드사 인증을 완료하면 결제가 승인됩니다.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182F6"/>
                </a:solidFill>
                <a:latin typeface="맑은 고딕"/>
              </a:rPr>
              <a:t>⑦-2 카드 결제경로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A1A1A"/>
                </a:solidFill>
                <a:latin typeface="맑은 고딕"/>
              </a:rPr>
              <a:t>카드사 인증창 — 농협카드</a:t>
            </a:r>
          </a:p>
        </p:txBody>
      </p:sp>
      <p:pic>
        <p:nvPicPr>
          <p:cNvPr id="4" name="Picture 3" descr="s07b-card-n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25880"/>
            <a:ext cx="3141432" cy="5029200"/>
          </a:xfrm>
          <a:prstGeom prst="rect">
            <a:avLst/>
          </a:prstGeom>
          <a:ln w="9525">
            <a:solidFill>
              <a:srgbClr val="DDE1E6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092440" y="1371600"/>
            <a:ext cx="3611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60000"/>
              </a:lnSpc>
            </a:pPr>
            <a:r>
              <a:rPr sz="1250" b="0">
                <a:solidFill>
                  <a:srgbClr val="1A1A1A"/>
                </a:solidFill>
                <a:latin typeface="맑은 고딕"/>
              </a:rPr>
              <a:t>• [신용·체크카드] → 카드사 [농협] 선택 → [결제하기]</a:t>
            </a:r>
          </a:p>
          <a:p>
            <a:pPr algn="l">
              <a:lnSpc>
                <a:spcPct val="160000"/>
              </a:lnSpc>
            </a:pPr>
            <a:r>
              <a:rPr sz="1250" b="0">
                <a:solidFill>
                  <a:srgbClr val="1A1A1A"/>
                </a:solidFill>
                <a:latin typeface="맑은 고딕"/>
              </a:rPr>
              <a:t>• 농협카드 인증창이 호출됩니다(NH Pay 앱카드 / 일반결제 선택).</a:t>
            </a:r>
          </a:p>
          <a:p>
            <a:pPr algn="l">
              <a:lnSpc>
                <a:spcPct val="160000"/>
              </a:lnSpc>
            </a:pPr>
            <a:r>
              <a:rPr sz="1250" b="0">
                <a:solidFill>
                  <a:srgbClr val="1A1A1A"/>
                </a:solidFill>
                <a:latin typeface="맑은 고딕"/>
              </a:rPr>
              <a:t>• 가이드 요건에 따라 2개 카드사의 인증 화면을 모두 첨부했습니다.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182F6"/>
                </a:solidFill>
                <a:latin typeface="맑은 고딕"/>
              </a:rPr>
              <a:t>⑦-3 카드 결제경로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A1A1A"/>
                </a:solidFill>
                <a:latin typeface="맑은 고딕"/>
              </a:rPr>
              <a:t>카드사 인증창 — 국민카드 (참고)</a:t>
            </a:r>
          </a:p>
        </p:txBody>
      </p:sp>
      <p:pic>
        <p:nvPicPr>
          <p:cNvPr id="4" name="Picture 3" descr="05-paywind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25880"/>
            <a:ext cx="3141432" cy="5029200"/>
          </a:xfrm>
          <a:prstGeom prst="rect">
            <a:avLst/>
          </a:prstGeom>
          <a:ln w="9525">
            <a:solidFill>
              <a:srgbClr val="DDE1E6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092440" y="1371600"/>
            <a:ext cx="3611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60000"/>
              </a:lnSpc>
            </a:pPr>
            <a:r>
              <a:rPr sz="1250" b="0">
                <a:solidFill>
                  <a:srgbClr val="1A1A1A"/>
                </a:solidFill>
                <a:latin typeface="맑은 고딕"/>
              </a:rPr>
              <a:t>• [신용·체크카드] → 카드사 [국민] 선택 → [결제하기]</a:t>
            </a:r>
          </a:p>
          <a:p>
            <a:pPr algn="l">
              <a:lnSpc>
                <a:spcPct val="160000"/>
              </a:lnSpc>
            </a:pPr>
            <a:r>
              <a:rPr sz="1250" b="0">
                <a:solidFill>
                  <a:srgbClr val="1A1A1A"/>
                </a:solidFill>
                <a:latin typeface="맑은 고딕"/>
              </a:rPr>
              <a:t>• KB국민카드 인증창 예시입니다.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182F6"/>
                </a:solidFill>
                <a:latin typeface="맑은 고딕"/>
              </a:rPr>
              <a:t>⑧ 결제 후 사용처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A1A1A"/>
                </a:solidFill>
                <a:latin typeface="맑은 고딕"/>
              </a:rPr>
              <a:t>충전한 이용권의 사용 경로</a:t>
            </a:r>
          </a:p>
        </p:txBody>
      </p:sp>
      <p:pic>
        <p:nvPicPr>
          <p:cNvPr id="4" name="Picture 3" descr="s08-us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25880"/>
            <a:ext cx="3141432" cy="5029200"/>
          </a:xfrm>
          <a:prstGeom prst="rect">
            <a:avLst/>
          </a:prstGeom>
          <a:ln w="9525">
            <a:solidFill>
              <a:srgbClr val="DDE1E6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092440" y="1371600"/>
            <a:ext cx="3611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60000"/>
              </a:lnSpc>
            </a:pPr>
            <a:r>
              <a:rPr sz="1250" b="0">
                <a:solidFill>
                  <a:srgbClr val="1A1A1A"/>
                </a:solidFill>
                <a:latin typeface="맑은 고딕"/>
              </a:rPr>
              <a:t>• https://mathlab.para-x.co.kr/exam-analysis</a:t>
            </a:r>
          </a:p>
          <a:p>
            <a:pPr algn="l">
              <a:lnSpc>
                <a:spcPct val="160000"/>
              </a:lnSpc>
            </a:pPr>
            <a:r>
              <a:rPr sz="1250" b="0">
                <a:solidFill>
                  <a:srgbClr val="1A1A1A"/>
                </a:solidFill>
                <a:latin typeface="맑은 고딕"/>
              </a:rPr>
              <a:t>• 결제로 충전된 이용권은 상단에 잔여 횟수로 표시됩니다.</a:t>
            </a:r>
          </a:p>
          <a:p>
            <a:pPr algn="l">
              <a:lnSpc>
                <a:spcPct val="160000"/>
              </a:lnSpc>
            </a:pPr>
            <a:r>
              <a:rPr sz="1250" b="0">
                <a:solidFill>
                  <a:srgbClr val="1A1A1A"/>
                </a:solidFill>
                <a:latin typeface="맑은 고딕"/>
              </a:rPr>
              <a:t>• 시험지를 업로드해 분석할 때마다 이용권이 1회씩 차감됩니다.</a:t>
            </a:r>
          </a:p>
          <a:p>
            <a:pPr algn="l">
              <a:lnSpc>
                <a:spcPct val="160000"/>
              </a:lnSpc>
            </a:pPr>
            <a:r>
              <a:rPr sz="1250" b="0">
                <a:solidFill>
                  <a:srgbClr val="1A1A1A"/>
                </a:solidFill>
                <a:latin typeface="맑은 고딕"/>
              </a:rPr>
              <a:t>• 이용권이 사용되는 유일한 경로이며, 현금화·양도·대여는 불가합니다.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182F6"/>
                </a:solidFill>
                <a:latin typeface="맑은 고딕"/>
              </a:rPr>
              <a:t>정기결제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A1A1A"/>
                </a:solidFill>
                <a:latin typeface="맑은 고딕"/>
              </a:rPr>
              <a:t>정기결제(월 구독) 경로</a:t>
            </a:r>
          </a:p>
        </p:txBody>
      </p:sp>
      <p:pic>
        <p:nvPicPr>
          <p:cNvPr id="4" name="Picture 3" descr="08-sub-check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25880"/>
            <a:ext cx="3141432" cy="5029200"/>
          </a:xfrm>
          <a:prstGeom prst="rect">
            <a:avLst/>
          </a:prstGeom>
          <a:ln w="9525">
            <a:solidFill>
              <a:srgbClr val="DDE1E6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092440" y="1371600"/>
            <a:ext cx="3611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60000"/>
              </a:lnSpc>
            </a:pPr>
            <a:r>
              <a:rPr sz="1250" b="0">
                <a:solidFill>
                  <a:srgbClr val="1A1A1A"/>
                </a:solidFill>
                <a:latin typeface="맑은 고딕"/>
              </a:rPr>
              <a:t>• https://mathlab.para-x.co.kr/billing → [구독하기]</a:t>
            </a:r>
          </a:p>
          <a:p>
            <a:pPr algn="l">
              <a:lnSpc>
                <a:spcPct val="160000"/>
              </a:lnSpc>
            </a:pPr>
            <a:r>
              <a:rPr sz="1250" b="0">
                <a:solidFill>
                  <a:srgbClr val="1A1A1A"/>
                </a:solidFill>
                <a:latin typeface="맑은 고딕"/>
              </a:rPr>
              <a:t>• 월 구독은 카드 등록(빌링) 방식으로, 일회성 결제와 화면이 다릅니다.</a:t>
            </a:r>
          </a:p>
          <a:p>
            <a:pPr algn="l">
              <a:lnSpc>
                <a:spcPct val="160000"/>
              </a:lnSpc>
            </a:pPr>
            <a:r>
              <a:rPr sz="1250" b="0">
                <a:solidFill>
                  <a:srgbClr val="1A1A1A"/>
                </a:solidFill>
                <a:latin typeface="맑은 고딕"/>
              </a:rPr>
              <a:t>• [카드 등록하고 구독 시작] → 카드사 인증 → 매월 자동 결제 및 이용권 자동 충전</a:t>
            </a:r>
          </a:p>
          <a:p>
            <a:pPr algn="l">
              <a:lnSpc>
                <a:spcPct val="160000"/>
              </a:lnSpc>
            </a:pPr>
            <a:r>
              <a:rPr sz="1250" b="0">
                <a:solidFill>
                  <a:srgbClr val="1A1A1A"/>
                </a:solidFill>
                <a:latin typeface="맑은 고딕"/>
              </a:rPr>
              <a:t>• 구독은 결제 화면의 [구독 관리]에서 언제든 직접 해지할 수 있습니다.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182F6"/>
                </a:solidFill>
                <a:latin typeface="맑은 고딕"/>
              </a:rPr>
              <a:t>부록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A1A1A"/>
                </a:solidFill>
                <a:latin typeface="맑은 고딕"/>
              </a:rPr>
              <a:t>결제 완료 및 지급 (참고)</a:t>
            </a:r>
          </a:p>
        </p:txBody>
      </p:sp>
      <p:pic>
        <p:nvPicPr>
          <p:cNvPr id="4" name="Picture 3" descr="06-succ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25880"/>
            <a:ext cx="3141432" cy="5029200"/>
          </a:xfrm>
          <a:prstGeom prst="rect">
            <a:avLst/>
          </a:prstGeom>
          <a:ln w="9525">
            <a:solidFill>
              <a:srgbClr val="DDE1E6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092440" y="1371600"/>
            <a:ext cx="3611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60000"/>
              </a:lnSpc>
            </a:pPr>
            <a:r>
              <a:rPr sz="1250" b="0">
                <a:solidFill>
                  <a:srgbClr val="1A1A1A"/>
                </a:solidFill>
                <a:latin typeface="맑은 고딕"/>
              </a:rPr>
              <a:t>• 가이드상 결제 완료 화면은 필수 캡처 대상이 아니나, 상품 지급 근거로 첨부합니다.</a:t>
            </a:r>
          </a:p>
          <a:p>
            <a:pPr algn="l">
              <a:lnSpc>
                <a:spcPct val="160000"/>
              </a:lnSpc>
            </a:pPr>
            <a:r>
              <a:rPr sz="1250" b="0">
                <a:solidFill>
                  <a:srgbClr val="1A1A1A"/>
                </a:solidFill>
                <a:latin typeface="맑은 고딕"/>
              </a:rPr>
              <a:t>• 결제 승인 즉시 이용권이 학원 계정에 자동 지급됩니다.</a:t>
            </a:r>
          </a:p>
          <a:p>
            <a:pPr algn="l">
              <a:lnSpc>
                <a:spcPct val="160000"/>
              </a:lnSpc>
            </a:pPr>
            <a:r>
              <a:rPr sz="1250" b="0">
                <a:solidFill>
                  <a:srgbClr val="1A1A1A"/>
                </a:solidFill>
                <a:latin typeface="맑은 고딕"/>
              </a:rPr>
              <a:t>• 결제금액 · 충전 수량 · 주문번호를 표시하고 영수증을 제공합니다.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