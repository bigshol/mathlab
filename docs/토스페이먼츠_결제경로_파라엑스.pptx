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맑은 고딕"/>
              </a:rPr>
              <a:t>결제경로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66C78"/>
                </a:solidFill>
                <a:latin typeface="맑은 고딕"/>
              </a:rPr>
              <a:t>파라엑스 (Para-X) · MathLAB 기출분석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0000"/>
              </a:lnSpc>
            </a:pPr>
            <a:r>
              <a:rPr sz="1500" b="0">
                <a:solidFill>
                  <a:srgbClr val="1A1A1A"/>
                </a:solidFill>
                <a:latin typeface="맑은 고딕"/>
              </a:rPr>
              <a:t>서비스 유형   무형(디지털) 재화 — 배송 없음</a:t>
            </a:r>
          </a:p>
          <a:p>
            <a:pPr algn="l">
              <a:lnSpc>
                <a:spcPct val="190000"/>
              </a:lnSpc>
            </a:pPr>
            <a:r>
              <a:rPr sz="1500" b="0">
                <a:solidFill>
                  <a:srgbClr val="1A1A1A"/>
                </a:solidFill>
                <a:latin typeface="맑은 고딕"/>
              </a:rPr>
              <a:t>결제 유형     충전업종(일회성 이용권) + 정기결제(월 구독)</a:t>
            </a:r>
          </a:p>
          <a:p>
            <a:pPr algn="l">
              <a:lnSpc>
                <a:spcPct val="190000"/>
              </a:lnSpc>
            </a:pPr>
            <a:r>
              <a:rPr sz="1500" b="0">
                <a:solidFill>
                  <a:srgbClr val="1A1A1A"/>
                </a:solidFill>
                <a:latin typeface="맑은 고딕"/>
              </a:rPr>
              <a:t>서비스 제공기간   일회성 이용권 충전일로부터 1년 / 구독 1개월 단위</a:t>
            </a:r>
          </a:p>
          <a:p>
            <a:pPr algn="l">
              <a:lnSpc>
                <a:spcPct val="190000"/>
              </a:lnSpc>
            </a:pPr>
            <a:r>
              <a:rPr sz="1500" b="0">
                <a:solidFill>
                  <a:srgbClr val="1A1A1A"/>
                </a:solidFill>
                <a:latin typeface="맑은 고딕"/>
              </a:rPr>
              <a:t>결제 연동     토스페이먼츠 결제위젯 (직접 연동, 호스팅사 미사용)</a:t>
            </a:r>
          </a:p>
          <a:p>
            <a:pPr algn="l">
              <a:lnSpc>
                <a:spcPct val="190000"/>
              </a:lnSpc>
            </a:pPr>
            <a:r>
              <a:rPr sz="1500" b="0">
                <a:solidFill>
                  <a:srgbClr val="1A1A1A"/>
                </a:solidFill>
                <a:latin typeface="맑은 고딕"/>
              </a:rPr>
              <a:t>심사용 계정   요청 시 별도 전달 (비회원 접근 불가 영역 확인용)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맑은 고딕"/>
              </a:rPr>
              <a:t>메인 페이지</a:t>
            </a:r>
          </a:p>
        </p:txBody>
      </p:sp>
      <p:pic>
        <p:nvPicPr>
          <p:cNvPr id="4" name="Picture 3" descr="01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141432" cy="50292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92440" y="137160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https://mathlab.para-x.co.kr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서비스 소개 페이지입니다. 상단 우측 [로그인] 후 [결제] 메뉴로 이동합니다.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비회원도 서비스 내용과 가격 정책을 확인할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STEP 1-1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맑은 고딕"/>
              </a:rPr>
              <a:t>사업자정보 (하단 푸터)</a:t>
            </a:r>
          </a:p>
        </p:txBody>
      </p:sp>
      <p:pic>
        <p:nvPicPr>
          <p:cNvPr id="4" name="Picture 3" descr="02-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141432" cy="50292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92440" y="137160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상호 · 대표자명 · 사업자등록번호 · 사업장 주소 · 유선번호 · 개인정보보호책임자를 표기합니다.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통신판매업 신고번호는 신고 완료 후 이 영역에 추가 기재할 예정입니다.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이용약관 / 개인정보처리방침 / 취소·환불 정책 링크를 함께 제공합니다.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맑은 고딕"/>
              </a:rPr>
              <a:t>상품 선택</a:t>
            </a:r>
          </a:p>
        </p:txBody>
      </p:sp>
      <p:pic>
        <p:nvPicPr>
          <p:cNvPr id="4" name="Picture 3" descr="03-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141432" cy="50292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92440" y="137160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https://mathlab.para-x.co.kr/billing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월 결제(정기결제) 3종과 횟수 결제(일회성 이용권) 3종을 판매합니다.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모든 상품에 판매 가격을 표기하며, 표기 금액과 실제 결제 금액은 동일합니다.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예시: [기출분석 3회 ₩30,000] 클릭 → 결제 화면으로 이동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맑은 고딕"/>
              </a:rPr>
              <a:t>결제</a:t>
            </a:r>
          </a:p>
        </p:txBody>
      </p:sp>
      <p:pic>
        <p:nvPicPr>
          <p:cNvPr id="4" name="Picture 3" descr="04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141432" cy="50292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92440" y="137160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https://para-x.co.kr/checkout.html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주문 내용(상품명 · 주문번호 · 결제금액)과 서비스 제공기간을 표시합니다.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결제수단: 신용·체크카드 / 퀵계좌이체 / 토스페이 / 페이코 / 카카오페이 / 네이버페이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결제 서비스 이용약관 및 개인정보 처리 동의 후 [결제하기]를 누릅니다.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맑은 고딕"/>
              </a:rPr>
              <a:t>결제창 확인 (신용카드)</a:t>
            </a:r>
          </a:p>
        </p:txBody>
      </p:sp>
      <p:pic>
        <p:nvPicPr>
          <p:cNvPr id="4" name="Picture 3" descr="05-pay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141432" cy="50292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92440" y="137160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[신용·체크카드] 선택 → 카드사 선택 → [결제하기] 클릭 시 카드사 인증창이 열립니다.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화면은 KB국민카드 인증창 예시입니다.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카드사 인증 완료 시 결제가 승인됩니다.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맑은 고딕"/>
              </a:rPr>
              <a:t>결제 완료 및 상품 지급</a:t>
            </a:r>
          </a:p>
        </p:txBody>
      </p:sp>
      <p:pic>
        <p:nvPicPr>
          <p:cNvPr id="4" name="Picture 3" descr="06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141432" cy="50292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92440" y="137160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결제 승인 즉시 이용권이 학원 계정에 자동 지급됩니다.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결제금액 · 충전 수량 · 주문번호를 표시하고 영수증을 제공합니다.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[MathLAB으로 돌아가기]로 지급된 이용권을 즉시 확인·사용할 수 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</a:rPr>
              <a:t>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맑은 고딕"/>
              </a:rPr>
              <a:t>취소·환불 정책</a:t>
            </a:r>
          </a:p>
        </p:txBody>
      </p:sp>
      <p:pic>
        <p:nvPicPr>
          <p:cNvPr id="4" name="Picture 3" descr="07-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141432" cy="5029200"/>
          </a:xfrm>
          <a:prstGeom prst="rect">
            <a:avLst/>
          </a:prstGeom>
          <a:ln w="9525">
            <a:solidFill>
              <a:srgbClr val="DDE1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092440" y="137160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https://para-x.co.kr/refund.html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무형(디지털) 재화로, 서비스 제공기간은 충전일로부터 1년입니다.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결제일로부터 7일 이내 미사용분 전액 환불, 일부 사용 시 잔여분 환불(정기결제는 일할 계산).</a:t>
            </a:r>
          </a:p>
          <a:p>
            <a:pPr algn="l">
              <a:lnSpc>
                <a:spcPct val="16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</a:rPr>
              <a:t>• 결제 화면과 상품 안내에도 유효기간을 함께 표기합니다.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